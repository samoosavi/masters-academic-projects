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397846cab494565" /><Relationship Type="http://schemas.openxmlformats.org/package/2006/relationships/metadata/core-properties" Target="/docProps/core.xml" Id="Ref936293cd364cf7" /><Relationship Type="http://schemas.openxmlformats.org/officeDocument/2006/relationships/extended-properties" Target="/docProps/app.xml" Id="Re7f6c2343cf24653" /><Relationship Type="http://schemas.openxmlformats.org/officeDocument/2006/relationships/custom-properties" Target="/docProps/custom.xml" Id="R591db0b0dd234ab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ec6e4ad618a46e2"/>
    <p:sldId id="257" r:id="Re0e48ae9a8004ce6"/>
    <p:sldId id="258" r:id="R35743315ec3d4af6"/>
    <p:sldId id="259" r:id="Rf4598b3df9de407f"/>
    <p:sldId id="260" r:id="R81fb0f12763d4f5c"/>
    <p:sldId id="261" r:id="R1d172dbd114e460d"/>
    <p:sldId id="262" r:id="Rbfc53a327e074b95"/>
    <p:sldId id="263" r:id="R903daf88d998409d"/>
    <p:sldId id="264" r:id="Rc07006d222b14a91"/>
    <p:sldId id="265" r:id="Rc4f4fad5d8a14a99"/>
    <p:sldId id="266" r:id="Rcbbe74be37cf4906"/>
    <p:sldId id="267" r:id="Rd95ea27514ea471a"/>
    <p:sldId id="268" r:id="Ra190625657564d1e"/>
    <p:sldId id="269" r:id="Rbefea164f20c45ca"/>
    <p:sldId id="270" r:id="R20ea156e17ec478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ec6e4ad618a46e2" /><Relationship Type="http://schemas.openxmlformats.org/officeDocument/2006/relationships/slide" Target="/ppt/slides/slide2.xml" Id="Re0e48ae9a8004ce6" /><Relationship Type="http://schemas.openxmlformats.org/officeDocument/2006/relationships/slide" Target="/ppt/slides/slide3.xml" Id="R35743315ec3d4af6" /><Relationship Type="http://schemas.openxmlformats.org/officeDocument/2006/relationships/slide" Target="/ppt/slides/slide4.xml" Id="Rf4598b3df9de407f" /><Relationship Type="http://schemas.openxmlformats.org/officeDocument/2006/relationships/slide" Target="/ppt/slides/slide5.xml" Id="R81fb0f12763d4f5c" /><Relationship Type="http://schemas.openxmlformats.org/officeDocument/2006/relationships/slide" Target="/ppt/slides/slide6.xml" Id="R1d172dbd114e460d" /><Relationship Type="http://schemas.openxmlformats.org/officeDocument/2006/relationships/slide" Target="/ppt/slides/slide7.xml" Id="Rbfc53a327e074b95" /><Relationship Type="http://schemas.openxmlformats.org/officeDocument/2006/relationships/slide" Target="/ppt/slides/slide8.xml" Id="R903daf88d998409d" /><Relationship Type="http://schemas.openxmlformats.org/officeDocument/2006/relationships/slide" Target="/ppt/slides/slide9.xml" Id="Rc07006d222b14a91" /><Relationship Type="http://schemas.openxmlformats.org/officeDocument/2006/relationships/slide" Target="/ppt/slides/slide10.xml" Id="Rc4f4fad5d8a14a99" /><Relationship Type="http://schemas.openxmlformats.org/officeDocument/2006/relationships/slide" Target="/ppt/slides/slide11.xml" Id="Rcbbe74be37cf4906" /><Relationship Type="http://schemas.openxmlformats.org/officeDocument/2006/relationships/slide" Target="/ppt/slides/slide12.xml" Id="Rd95ea27514ea471a" /><Relationship Type="http://schemas.openxmlformats.org/officeDocument/2006/relationships/slide" Target="/ppt/slides/slide13.xml" Id="Ra190625657564d1e" /><Relationship Type="http://schemas.openxmlformats.org/officeDocument/2006/relationships/slide" Target="/ppt/slides/slide14.xml" Id="Rbefea164f20c45ca" /><Relationship Type="http://schemas.openxmlformats.org/officeDocument/2006/relationships/slide" Target="/ppt/slides/slide15.xml" Id="R20ea156e17ec478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e79b9fa8641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e6231c04f541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c223be36c4e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14add8814544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e8efab0db429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ecf88e2d8cc42c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786dbc8d54f3f" /><Relationship Type="http://schemas.openxmlformats.org/officeDocument/2006/relationships/image" Target="/ppt/media/image.png" Id="Raca8e8bbb9ca4b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be6d2e4c948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5c83965f242a2" /><Relationship Type="http://schemas.openxmlformats.org/officeDocument/2006/relationships/image" Target="/ppt/media/image2.png" Id="R9da9b3ac1f8e4e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6689d6a0144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587d7d87f4a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77cddd89e48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83b5d6e3a41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4e18813924f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f7a6f4e8440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cc7fcdbf747af" /><Relationship Type="http://schemas.openxmlformats.org/officeDocument/2006/relationships/image" Target="/ppt/media/image3.png" Id="Rd7f2739396a64b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6c6e8e1cd4971" /><Relationship Type="http://schemas.openxmlformats.org/officeDocument/2006/relationships/image" Target="/ppt/media/image4.png" Id="Rc75128d4917c4d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7b5a3679d4a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ef02c6c7f4d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5d63ea5cf4e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392266b85441e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16213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</a:t>
            </a:r>
          </a:p>
        </p:txBody>
      </p:sp>
      <p:pic>
        <p:nvPicPr>
          <p:cNvPr id="10000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8e8bbb9ca4ba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548000" y="288000"/>
            <a:ext cx="900000" cy="1143243"/>
          </a:xfrm>
          <a:prstGeom xmlns:a="http://schemas.openxmlformats.org/drawingml/2006/main" prst="rect">
            <a:avLst/>
          </a:prstGeom>
        </p:spPr>
      </p:pic>
      <p:sp>
        <p:nvSpPr>
          <p:cNvPr id="100001" name="TextBox 2"/>
          <p:cNvSpPr txBox="1"/>
          <p:nvPr/>
        </p:nvSpPr>
        <p:spPr>
          <a:xfrm xmlns:a="http://schemas.openxmlformats.org/drawingml/2006/main">
            <a:off x="1260000" y="1260000"/>
            <a:ext cx="61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دانشگاه صنعتی امیرکبیر (پلیâتکنیک تهران)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1260000" y="1620000"/>
            <a:ext cx="61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CCCCC"/>
                </a:solidFill>
              </a:rPr>
              <a:t>دانشکده مهندسی کامپیوتر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40000" y="2088000"/>
            <a:ext cx="75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E94560"/>
                </a:solidFill>
              </a:rPr>
              <a:t>حریم خصوصی و امنیت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540000" y="2592000"/>
            <a:ext cx="75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در شبکه اقتضایی خودرویی</a:t>
            </a:r>
          </a:p>
        </p:txBody>
      </p:sp>
      <p:sp>
        <p:nvSpPr>
          <p:cNvPr id="100005" name="TextBox 6"/>
          <p:cNvSpPr txBox="1"/>
          <p:nvPr/>
        </p:nvSpPr>
        <p:spPr>
          <a:xfrm xmlns:a="http://schemas.openxmlformats.org/drawingml/2006/main">
            <a:off x="1260000" y="3060000"/>
            <a:ext cx="61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3A8B6"/>
                </a:solidFill>
              </a:rPr>
              <a:t>Vehicular Ad-hoc Networks (VANET)</a:t>
            </a:r>
          </a:p>
        </p:txBody>
      </p:sp>
      <p:sp>
        <p:nvSpPr>
          <p:cNvPr id="100006" name="TextBox 7"/>
          <p:cNvSpPr txBox="1"/>
          <p:nvPr/>
        </p:nvSpPr>
        <p:spPr>
          <a:xfrm xmlns:a="http://schemas.openxmlformats.org/drawingml/2006/main">
            <a:off x="1260000" y="3600000"/>
            <a:ext cx="61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</a:rPr>
              <a:t>گزارش سمینار کارشناسی ارشد</a:t>
            </a:r>
          </a:p>
        </p:txBody>
      </p:sp>
      <p:sp>
        <p:nvSpPr>
          <p:cNvPr id="100007" name="TextBox 8"/>
          <p:cNvSpPr txBox="1"/>
          <p:nvPr/>
        </p:nvSpPr>
        <p:spPr>
          <a:xfrm xmlns:a="http://schemas.openxmlformats.org/drawingml/2006/main">
            <a:off x="1260000" y="4032000"/>
            <a:ext cx="61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دانشجو: سید علی موسوی</a:t>
            </a:r>
          </a:p>
        </p:txBody>
      </p:sp>
      <p:sp>
        <p:nvSpPr>
          <p:cNvPr id="100008" name="TextBox 9"/>
          <p:cNvSpPr txBox="1"/>
          <p:nvPr/>
        </p:nvSpPr>
        <p:spPr>
          <a:xfrm xmlns:a="http://schemas.openxmlformats.org/drawingml/2006/main">
            <a:off x="1260000" y="4248000"/>
            <a:ext cx="61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شماره دانشجویی: ۴۰۴۱۳۱۰۱۰</a:t>
            </a:r>
          </a:p>
        </p:txBody>
      </p:sp>
      <p:sp>
        <p:nvSpPr>
          <p:cNvPr id="100009" name="TextBox 10"/>
          <p:cNvSpPr txBox="1"/>
          <p:nvPr/>
        </p:nvSpPr>
        <p:spPr>
          <a:xfrm xmlns:a="http://schemas.openxmlformats.org/drawingml/2006/main">
            <a:off x="1260000" y="4464000"/>
            <a:ext cx="61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استاد درس سمینار: دکتر رضا صفابخش</a:t>
            </a:r>
          </a:p>
        </p:txBody>
      </p:sp>
      <p:sp>
        <p:nvSpPr>
          <p:cNvPr id="100010" name="TextBox 11"/>
          <p:cNvSpPr txBox="1"/>
          <p:nvPr/>
        </p:nvSpPr>
        <p:spPr>
          <a:xfrm xmlns:a="http://schemas.openxmlformats.org/drawingml/2006/main">
            <a:off x="1260000" y="4680000"/>
            <a:ext cx="61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استاد راهنما: دکتر بابک صادقیان</a:t>
            </a:r>
          </a:p>
        </p:txBody>
      </p:sp>
      <p:sp>
        <p:nvSpPr>
          <p:cNvPr id="100011" name="TextBox 12"/>
          <p:cNvSpPr txBox="1"/>
          <p:nvPr/>
        </p:nvSpPr>
        <p:spPr>
          <a:xfrm xmlns:a="http://schemas.openxmlformats.org/drawingml/2006/main">
            <a:off x="1260000" y="5040000"/>
            <a:ext cx="61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CCCCC"/>
                </a:solidFill>
              </a:rPr>
              <a:t>مردادماه ۱۴۰۵</a:t>
            </a:r>
          </a:p>
        </p:txBody>
      </p:sp>
      <p:sp>
        <p:nvSpPr>
          <p:cNvPr id="100012" name="TextBox 13"/>
          <p:cNvSpPr txBox="1"/>
          <p:nvPr/>
        </p:nvSpPr>
        <p:spPr>
          <a:xfrm xmlns:a="http://schemas.openxmlformats.org/drawingml/2006/main">
            <a:off x="0" y="5328000"/>
            <a:ext cx="9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6213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Outline</a:t>
            </a:r>
          </a:p>
        </p:txBody>
      </p:sp>
      <p:sp>
        <p:nvSpPr>
          <p:cNvPr id="100013" name="TextBox 2"/>
          <p:cNvSpPr txBox="1"/>
          <p:nvPr/>
        </p:nvSpPr>
        <p:spPr>
          <a:xfrm xmlns:a="http://schemas.openxmlformats.org/drawingml/2006/main">
            <a:off x="360000" y="180000"/>
            <a:ext cx="828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فهرست ارائه</a:t>
            </a:r>
          </a:p>
        </p:txBody>
      </p:sp>
      <p:sp>
        <p:nvSpPr>
          <p:cNvPr id="100014" name="TextBox 3"/>
          <p:cNvSpPr txBox="1"/>
          <p:nvPr/>
        </p:nvSpPr>
        <p:spPr>
          <a:xfrm xmlns:a="http://schemas.openxmlformats.org/drawingml/2006/main">
            <a:off x="4320000" y="900000"/>
            <a:ext cx="4320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</a:rPr>
              <a:t>۱. شبکه اقتضایی خودرویی چیست؟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</a:rPr>
              <a:t>۲. چالش‌های شبکه‌سازی و امنیتی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</a:rPr>
              <a:t>۳. حملات امنیتی بر VANET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</a:rPr>
              <a:t>۴. مکانیزم‌های حفظ حریم خصوصی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</a:rPr>
              <a:t>۵. رمزنگاری و امضاهای دیجیتال</a:t>
            </a:r>
          </a:p>
        </p:txBody>
      </p:sp>
      <p:sp>
        <p:nvSpPr>
          <p:cNvPr id="100015" name="TextBox 4"/>
          <p:cNvSpPr txBox="1"/>
          <p:nvPr/>
        </p:nvSpPr>
        <p:spPr>
          <a:xfrm xmlns:a="http://schemas.openxmlformats.org/drawingml/2006/main">
            <a:off x="360000" y="900000"/>
            <a:ext cx="4320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</a:rPr>
              <a:t>۶. مدیریت اعتماد و شهرت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</a:rPr>
              <a:t>۷. زنجیره بلوکی و IOTA Tangle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</a:rPr>
              <a:t>۸. مدیریت هویت (SSI / DID / VC)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</a:rPr>
              <a:t>۹. هوش مصنوعی و فناوری‌های نوظهور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</a:rPr>
              <a:t>۱0. مسائل باز و جمع‌بندی</a:t>
            </a:r>
          </a:p>
        </p:txBody>
      </p:sp>
      <p:sp>
        <p:nvSpPr>
          <p:cNvPr id="100016" name="TextBox 5"/>
          <p:cNvSpPr txBox="1"/>
          <p:nvPr/>
        </p:nvSpPr>
        <p:spPr>
          <a:xfrm xmlns:a="http://schemas.openxmlformats.org/drawingml/2006/main">
            <a:off x="360000" y="3240000"/>
            <a:ext cx="82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888888"/>
                </a:solidFill>
              </a:rPr>
              <a:t>مدت ارائه: ۱۵ دقیقه • ۱۴ اسلاید</a:t>
            </a:r>
          </a:p>
        </p:txBody>
      </p:sp>
      <p:sp>
        <p:nvSpPr>
          <p:cNvPr id="100017" name="TextBox 6"/>
          <p:cNvSpPr txBox="1"/>
          <p:nvPr/>
        </p:nvSpPr>
        <p:spPr>
          <a:xfrm xmlns:a="http://schemas.openxmlformats.org/drawingml/2006/main">
            <a:off x="0" y="5328000"/>
            <a:ext cx="9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16213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VANET Definition</a:t>
            </a:r>
          </a:p>
        </p:txBody>
      </p:sp>
      <p:sp>
        <p:nvSpPr>
          <p:cNvPr id="100018" name="TextBox 2"/>
          <p:cNvSpPr txBox="1"/>
          <p:nvPr/>
        </p:nvSpPr>
        <p:spPr>
          <a:xfrm xmlns:a="http://schemas.openxmlformats.org/drawingml/2006/main">
            <a:off x="360000" y="108000"/>
            <a:ext cx="8280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شبکه اقتضایی خودرویی چیست؟</a:t>
            </a:r>
          </a:p>
        </p:txBody>
      </p:sp>
      <p:pic>
        <p:nvPicPr>
          <p:cNvPr id="10001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9b3ac1f8e4ef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0000" y="648000"/>
            <a:ext cx="5760000" cy="2520000"/>
          </a:xfrm>
          <a:prstGeom xmlns:a="http://schemas.openxmlformats.org/drawingml/2006/main" prst="rect">
            <a:avLst/>
          </a:prstGeom>
        </p:spPr>
      </p:pic>
      <p:sp>
        <p:nvSpPr>
          <p:cNvPr id="100020" name="TextBox 3"/>
          <p:cNvSpPr txBox="1"/>
          <p:nvPr/>
        </p:nvSpPr>
        <p:spPr>
          <a:xfrm xmlns:a="http://schemas.openxmlformats.org/drawingml/2006/main">
            <a:off x="360000" y="3312000"/>
            <a:ext cx="82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CCCCC"/>
                </a:solidFill>
              </a:rPr>
              <a:t>زیرمجموعه شبکه‌های خودمختار متحرک (MANET) • ارتباط مستقیم بین خودروها و زیرساخت‌های جاده‌ای</a:t>
            </a:r>
          </a:p>
        </p:txBody>
      </p:sp>
      <p:sp>
        <p:nvSpPr>
          <p:cNvPr id="100021" name="TextBox 4"/>
          <p:cNvSpPr txBox="1"/>
          <p:nvPr/>
        </p:nvSpPr>
        <p:spPr>
          <a:xfrm xmlns:a="http://schemas.openxmlformats.org/drawingml/2006/main">
            <a:off x="360000" y="3672000"/>
            <a:ext cx="82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3A8B6"/>
                </a:solidFill>
              </a:rPr>
              <a:t>اجزای اصلی: OBU (واحد سوارشونده) • RSU (واحد کنارجاده‌ای) • TA (مرجع قابل اعتماد)</a:t>
            </a:r>
          </a:p>
        </p:txBody>
      </p:sp>
      <p:sp>
        <p:nvSpPr>
          <p:cNvPr id="100022" name="TextBox 5"/>
          <p:cNvSpPr txBox="1"/>
          <p:nvPr/>
        </p:nvSpPr>
        <p:spPr>
          <a:xfrm xmlns:a="http://schemas.openxmlformats.org/drawingml/2006/main">
            <a:off x="360000" y="3888000"/>
            <a:ext cx="82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3A8B6"/>
                </a:solidFill>
              </a:rPr>
              <a:t>V2V: خودرو به خودرو • V2I: خودرو به زیرساخت • V2P: خودرو به عابر • V2N: خودرو به شبکه</a:t>
            </a:r>
          </a:p>
        </p:txBody>
      </p:sp>
      <p:sp>
        <p:nvSpPr>
          <p:cNvPr id="100023" name="TextBox 6"/>
          <p:cNvSpPr txBox="1"/>
          <p:nvPr/>
        </p:nvSpPr>
        <p:spPr>
          <a:xfrm xmlns:a="http://schemas.openxmlformats.org/drawingml/2006/main">
            <a:off x="360000" y="4104000"/>
            <a:ext cx="82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3A8B6"/>
                </a:solidFill>
              </a:rPr>
              <a:t>ویژگی‌ها: تحرک بالا • توپولوژی پویا • تأخیر بسیار کم بلادرنگ • حجم بالای پیام‌های ایمنی</a:t>
            </a:r>
          </a:p>
        </p:txBody>
      </p:sp>
      <p:sp>
        <p:nvSpPr>
          <p:cNvPr id="100024" name="TextBox 7"/>
          <p:cNvSpPr txBox="1"/>
          <p:nvPr/>
        </p:nvSpPr>
        <p:spPr>
          <a:xfrm xmlns:a="http://schemas.openxmlformats.org/drawingml/2006/main">
            <a:off x="0" y="5328000"/>
            <a:ext cx="9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6213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Importance</a:t>
            </a:r>
          </a:p>
        </p:txBody>
      </p:sp>
      <p:sp>
        <p:nvSpPr>
          <p:cNvPr id="100025" name="TextBox 2"/>
          <p:cNvSpPr txBox="1"/>
          <p:nvPr/>
        </p:nvSpPr>
        <p:spPr>
          <a:xfrm xmlns:a="http://schemas.openxmlformats.org/drawingml/2006/main">
            <a:off x="360000" y="108000"/>
            <a:ext cx="8280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اهمیت شبکه اقتضایی خودرویی</a:t>
            </a:r>
          </a:p>
        </p:txBody>
      </p:sp>
      <p:sp>
        <p:nvSpPr>
          <p:cNvPr id="100026" name="TextBox 3"/>
          <p:cNvSpPr txBox="1"/>
          <p:nvPr/>
        </p:nvSpPr>
        <p:spPr>
          <a:xfrm xmlns:a="http://schemas.openxmlformats.org/drawingml/2006/main">
            <a:off x="360000" y="720000"/>
            <a:ext cx="39600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ایمنی ترافیک</a:t>
            </a:r>
          </a:p>
        </p:txBody>
      </p:sp>
      <p:sp>
        <p:nvSpPr>
          <p:cNvPr id="100027" name="TextBox 4"/>
          <p:cNvSpPr txBox="1"/>
          <p:nvPr/>
        </p:nvSpPr>
        <p:spPr>
          <a:xfrm xmlns:a="http://schemas.openxmlformats.org/drawingml/2006/main">
            <a:off x="360000" y="1080000"/>
            <a:ext cx="396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سالانه ۱.۱۹ میلیون کشته در تصادفات جاده‌ای جهان (WHO)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بیش از ۹۲٪ تصادفات ناشی از خطای انسانی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هشدارهای بلادرنگ: ترمز ناگهانی، مانع، تغییر لاین</a:t>
            </a:r>
          </a:p>
        </p:txBody>
      </p:sp>
      <p:sp>
        <p:nvSpPr>
          <p:cNvPr id="100028" name="TextBox 5"/>
          <p:cNvSpPr txBox="1"/>
          <p:nvPr/>
        </p:nvSpPr>
        <p:spPr>
          <a:xfrm xmlns:a="http://schemas.openxmlformats.org/drawingml/2006/main">
            <a:off x="4680000" y="720000"/>
            <a:ext cx="39600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مدیریت ترافیک</a:t>
            </a:r>
          </a:p>
        </p:txBody>
      </p:sp>
      <p:sp>
        <p:nvSpPr>
          <p:cNvPr id="100029" name="TextBox 6"/>
          <p:cNvSpPr txBox="1"/>
          <p:nvPr/>
        </p:nvSpPr>
        <p:spPr>
          <a:xfrm xmlns:a="http://schemas.openxmlformats.org/drawingml/2006/main">
            <a:off x="4680000" y="1080000"/>
            <a:ext cx="39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کاهش ازدحام و بهینه‌سازی جریان ترافیک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مدیریت هوشمند تقاطع‌ها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پشتیبانی از رانندگی خودکار</a:t>
            </a:r>
          </a:p>
        </p:txBody>
      </p:sp>
      <p:sp>
        <p:nvSpPr>
          <p:cNvPr id="100030" name="TextBox 7"/>
          <p:cNvSpPr txBox="1"/>
          <p:nvPr/>
        </p:nvSpPr>
        <p:spPr>
          <a:xfrm xmlns:a="http://schemas.openxmlformats.org/drawingml/2006/main">
            <a:off x="360000" y="2340000"/>
            <a:ext cx="39600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چالش‌های شبکه‌سازی</a:t>
            </a:r>
          </a:p>
        </p:txBody>
      </p:sp>
      <p:sp>
        <p:nvSpPr>
          <p:cNvPr id="100031" name="TextBox 8"/>
          <p:cNvSpPr txBox="1"/>
          <p:nvPr/>
        </p:nvSpPr>
        <p:spPr>
          <a:xfrm xmlns:a="http://schemas.openxmlformats.org/drawingml/2006/main">
            <a:off x="360000" y="2700000"/>
            <a:ext cx="39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تکه‌تکه شدن مکرر شبکه به دلیل تحرک بالا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مشکلات مسیریابی در توپولوژی پویا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کمبود طیف فرکانسی و تأثیرات محیطی</a:t>
            </a:r>
          </a:p>
        </p:txBody>
      </p:sp>
      <p:sp>
        <p:nvSpPr>
          <p:cNvPr id="100032" name="TextBox 9"/>
          <p:cNvSpPr txBox="1"/>
          <p:nvPr/>
        </p:nvSpPr>
        <p:spPr>
          <a:xfrm xmlns:a="http://schemas.openxmlformats.org/drawingml/2006/main">
            <a:off x="4680000" y="2340000"/>
            <a:ext cx="39600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چالش‌های مقیاس‌پذیری</a:t>
            </a:r>
          </a:p>
        </p:txBody>
      </p:sp>
      <p:sp>
        <p:nvSpPr>
          <p:cNvPr id="100033" name="TextBox 10"/>
          <p:cNvSpPr txBox="1"/>
          <p:nvPr/>
        </p:nvSpPr>
        <p:spPr>
          <a:xfrm xmlns:a="http://schemas.openxmlformats.org/drawingml/2006/main">
            <a:off x="4680000" y="2700000"/>
            <a:ext cx="396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حجم داده‌ها تا هزاران گیگابایت در روز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پردازش بلادرنگ نیازمند منابع محاسباتی قابل توجه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ناهمگونی فناوری‌ها: DSRC، LTE، 5G</a:t>
            </a:r>
          </a:p>
        </p:txBody>
      </p:sp>
      <p:sp>
        <p:nvSpPr>
          <p:cNvPr id="100034" name="TextBox 11"/>
          <p:cNvSpPr txBox="1"/>
          <p:nvPr/>
        </p:nvSpPr>
        <p:spPr>
          <a:xfrm xmlns:a="http://schemas.openxmlformats.org/drawingml/2006/main">
            <a:off x="0" y="5328000"/>
            <a:ext cx="9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6213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Security Challenges</a:t>
            </a:r>
          </a:p>
        </p:txBody>
      </p:sp>
      <p:sp>
        <p:nvSpPr>
          <p:cNvPr id="100035" name="TextBox 2"/>
          <p:cNvSpPr txBox="1"/>
          <p:nvPr/>
        </p:nvSpPr>
        <p:spPr>
          <a:xfrm xmlns:a="http://schemas.openxmlformats.org/drawingml/2006/main">
            <a:off x="360000" y="108000"/>
            <a:ext cx="8280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چالش‌های امنیتی</a:t>
            </a:r>
          </a:p>
        </p:txBody>
      </p:sp>
      <p:sp>
        <p:nvSpPr>
          <p:cNvPr id="100036" name="TextBox 3"/>
          <p:cNvSpPr txBox="1"/>
          <p:nvPr/>
        </p:nvSpPr>
        <p:spPr>
          <a:xfrm xmlns:a="http://schemas.openxmlformats.org/drawingml/2006/main">
            <a:off x="360000" y="720000"/>
            <a:ext cx="39600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الزامات امنیتی</a:t>
            </a:r>
          </a:p>
        </p:txBody>
      </p:sp>
      <p:sp>
        <p:nvSpPr>
          <p:cNvPr id="100037" name="TextBox 4"/>
          <p:cNvSpPr txBox="1"/>
          <p:nvPr/>
        </p:nvSpPr>
        <p:spPr>
          <a:xfrm xmlns:a="http://schemas.openxmlformats.org/drawingml/2006/main">
            <a:off x="360000" y="1080000"/>
            <a:ext cx="3960000" cy="2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محرمانگی (Confidentiality): رمزنگاری داده‌ها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یکپارچگی (Integrity): جلوگیری از دستکاری پیام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تصدیق هویت (Authentication): تمایز معتبر از موذی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دسترس‌پذیری (Availability): ارتباط به‌موقع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عدم انکار (Non-repudiation): ثبت امن پیام‌ها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حریم خصوصی (Privacy): محافظت از اطلاعات شخصی</a:t>
            </a:r>
          </a:p>
        </p:txBody>
      </p:sp>
      <p:sp>
        <p:nvSpPr>
          <p:cNvPr id="100038" name="TextBox 5"/>
          <p:cNvSpPr txBox="1"/>
          <p:nvPr/>
        </p:nvSpPr>
        <p:spPr>
          <a:xfrm xmlns:a="http://schemas.openxmlformats.org/drawingml/2006/main">
            <a:off x="4680000" y="720000"/>
            <a:ext cx="39600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چالش‌های ساختاری</a:t>
            </a:r>
          </a:p>
        </p:txBody>
      </p:sp>
      <p:sp>
        <p:nvSpPr>
          <p:cNvPr id="100039" name="TextBox 6"/>
          <p:cNvSpPr txBox="1"/>
          <p:nvPr/>
        </p:nvSpPr>
        <p:spPr>
          <a:xfrm xmlns:a="http://schemas.openxmlformats.org/drawingml/2006/main">
            <a:off x="4680000" y="1080000"/>
            <a:ext cx="3960000" cy="2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تکه‌تکه شدن مکرر شبکه و قطع اتصالات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مشکلات مسیریابی در شبکه‌های پویا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محدودیت منابع پردازشی OBU و RSU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مقیاس‌پذیری در تراکم بالای شهری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• ناهمگونی فناوری‌های ارتباطی</a:t>
            </a:r>
          </a:p>
        </p:txBody>
      </p:sp>
      <p:sp>
        <p:nvSpPr>
          <p:cNvPr id="100040" name="TextBox 7"/>
          <p:cNvSpPr txBox="1"/>
          <p:nvPr/>
        </p:nvSpPr>
        <p:spPr>
          <a:xfrm xmlns:a="http://schemas.openxmlformats.org/drawingml/2006/main">
            <a:off x="360000" y="3240000"/>
            <a:ext cx="82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53A8B6"/>
                </a:solidFill>
              </a:rPr>
              <a:t>تعادل: امنیت نباید موجب تأخیر غیرقابل قبول شود</a:t>
            </a:r>
          </a:p>
        </p:txBody>
      </p:sp>
      <p:sp>
        <p:nvSpPr>
          <p:cNvPr id="100041" name="TextBox 8"/>
          <p:cNvSpPr txBox="1"/>
          <p:nvPr/>
        </p:nvSpPr>
        <p:spPr>
          <a:xfrm xmlns:a="http://schemas.openxmlformats.org/drawingml/2006/main">
            <a:off x="0" y="5328000"/>
            <a:ext cx="9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6213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Attacks</a:t>
            </a:r>
          </a:p>
        </p:txBody>
      </p:sp>
      <p:sp>
        <p:nvSpPr>
          <p:cNvPr id="100042" name="TextBox 2"/>
          <p:cNvSpPr txBox="1"/>
          <p:nvPr/>
        </p:nvSpPr>
        <p:spPr>
          <a:xfrm xmlns:a="http://schemas.openxmlformats.org/drawingml/2006/main">
            <a:off x="360000" y="108000"/>
            <a:ext cx="82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حملات امنیتی بر VANET</a:t>
            </a:r>
          </a:p>
        </p:txBody>
      </p:sp>
      <p:sp>
        <p:nvSpPr>
          <p:cNvPr id="100043" name="TextBox 3"/>
          <p:cNvSpPr txBox="1"/>
          <p:nvPr/>
        </p:nvSpPr>
        <p:spPr>
          <a:xfrm xmlns:a="http://schemas.openxmlformats.org/drawingml/2006/main">
            <a:off x="360000" y="720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E94560"/>
                </a:solidFill>
              </a:rPr>
              <a:t>حملات بر دسترس‌پذیری</a:t>
            </a:r>
          </a:p>
        </p:txBody>
      </p:sp>
      <p:sp>
        <p:nvSpPr>
          <p:cNvPr id="100044" name="TextBox 4"/>
          <p:cNvSpPr txBox="1"/>
          <p:nvPr/>
        </p:nvSpPr>
        <p:spPr>
          <a:xfrm xmlns:a="http://schemas.openxmlformats.org/drawingml/2006/main">
            <a:off x="360000" y="1008000"/>
            <a:ext cx="396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DoS/DDoS: اشباع RSU و شبکه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پارازیت (Jamming): اختلال در کانال بی‌سیم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سیل پیام (Flooding): اشباع پهنای باند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مبتنی بر حافظه: تخلیه حافظه OBU/RSU</a:t>
            </a:r>
          </a:p>
        </p:txBody>
      </p:sp>
      <p:sp>
        <p:nvSpPr>
          <p:cNvPr id="100045" name="TextBox 5"/>
          <p:cNvSpPr txBox="1"/>
          <p:nvPr/>
        </p:nvSpPr>
        <p:spPr>
          <a:xfrm xmlns:a="http://schemas.openxmlformats.org/drawingml/2006/main">
            <a:off x="360000" y="1908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E94560"/>
                </a:solidFill>
              </a:rPr>
              <a:t>حملات بر محرمانگی</a:t>
            </a:r>
          </a:p>
        </p:txBody>
      </p:sp>
      <p:sp>
        <p:nvSpPr>
          <p:cNvPr id="100046" name="TextBox 6"/>
          <p:cNvSpPr txBox="1"/>
          <p:nvPr/>
        </p:nvSpPr>
        <p:spPr>
          <a:xfrm xmlns:a="http://schemas.openxmlformats.org/drawingml/2006/main">
            <a:off x="360000" y="2196000"/>
            <a:ext cx="396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استراق سمع: شنود ترافیک بی‌سیم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تحلیل ترافیک: استنتاج الگوی رفتاری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حملات کانال جانبی: نشت زمان‌بندی و توان</a:t>
            </a:r>
          </a:p>
        </p:txBody>
      </p:sp>
      <p:sp>
        <p:nvSpPr>
          <p:cNvPr id="100047" name="TextBox 7"/>
          <p:cNvSpPr txBox="1"/>
          <p:nvPr/>
        </p:nvSpPr>
        <p:spPr>
          <a:xfrm xmlns:a="http://schemas.openxmlformats.org/drawingml/2006/main">
            <a:off x="4680000" y="720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E94560"/>
                </a:solidFill>
              </a:rPr>
              <a:t>حملات بر صحت و یکپارچگی</a:t>
            </a:r>
          </a:p>
        </p:txBody>
      </p:sp>
      <p:sp>
        <p:nvSpPr>
          <p:cNvPr id="100048" name="TextBox 8"/>
          <p:cNvSpPr txBox="1"/>
          <p:nvPr/>
        </p:nvSpPr>
        <p:spPr>
          <a:xfrm xmlns:a="http://schemas.openxmlformats.org/drawingml/2006/main">
            <a:off x="4680000" y="1008000"/>
            <a:ext cx="39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جعل پیام و هویت (Spoofing)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حمله فردی در میان (MITM)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حمله بازپخش (Replay)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جعل موقعیت GPS و داده حسگر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ربایش نشست ارتباطی (Session Hijacking)</a:t>
            </a:r>
          </a:p>
        </p:txBody>
      </p:sp>
      <p:sp>
        <p:nvSpPr>
          <p:cNvPr id="100049" name="TextBox 9"/>
          <p:cNvSpPr txBox="1"/>
          <p:nvPr/>
        </p:nvSpPr>
        <p:spPr>
          <a:xfrm xmlns:a="http://schemas.openxmlformats.org/drawingml/2006/main">
            <a:off x="4680000" y="2088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E94560"/>
                </a:solidFill>
              </a:rPr>
              <a:t>حملات بر حریم خصوصی</a:t>
            </a:r>
          </a:p>
        </p:txBody>
      </p:sp>
      <p:sp>
        <p:nvSpPr>
          <p:cNvPr id="100050" name="TextBox 10"/>
          <p:cNvSpPr txBox="1"/>
          <p:nvPr/>
        </p:nvSpPr>
        <p:spPr>
          <a:xfrm xmlns:a="http://schemas.openxmlformats.org/drawingml/2006/main">
            <a:off x="4680000" y="2376000"/>
            <a:ext cx="396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ردیابی موقعیت و مسیر خودرو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نمایه‌سازی رفتاری در طول زمان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پیوندپذیری شبه‌نام‌ها به یک هویت</a:t>
            </a:r>
          </a:p>
        </p:txBody>
      </p:sp>
      <p:sp>
        <p:nvSpPr>
          <p:cNvPr id="100051" name="TextBox 11"/>
          <p:cNvSpPr txBox="1"/>
          <p:nvPr/>
        </p:nvSpPr>
        <p:spPr>
          <a:xfrm xmlns:a="http://schemas.openxmlformats.org/drawingml/2006/main">
            <a:off x="360000" y="3420000"/>
            <a:ext cx="82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888888"/>
                </a:solidFill>
              </a:rPr>
              <a:t>تهدید ویژه: گره‌های موذی داخلی — گواهی معتبر دارند اما محتوای نادرست تولید می‌کنند</a:t>
            </a:r>
          </a:p>
        </p:txBody>
      </p:sp>
      <p:sp>
        <p:nvSpPr>
          <p:cNvPr id="100052" name="TextBox 12"/>
          <p:cNvSpPr txBox="1"/>
          <p:nvPr/>
        </p:nvSpPr>
        <p:spPr>
          <a:xfrm xmlns:a="http://schemas.openxmlformats.org/drawingml/2006/main">
            <a:off x="0" y="5328000"/>
            <a:ext cx="9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6213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Privacy</a:t>
            </a:r>
          </a:p>
        </p:txBody>
      </p:sp>
      <p:sp>
        <p:nvSpPr>
          <p:cNvPr id="100053" name="TextBox 2"/>
          <p:cNvSpPr txBox="1"/>
          <p:nvPr/>
        </p:nvSpPr>
        <p:spPr>
          <a:xfrm xmlns:a="http://schemas.openxmlformats.org/drawingml/2006/main">
            <a:off x="360000" y="108000"/>
            <a:ext cx="82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مکانیزم‌های حفظ حریم خصوصی</a:t>
            </a:r>
          </a:p>
        </p:txBody>
      </p:sp>
      <p:sp>
        <p:nvSpPr>
          <p:cNvPr id="100054" name="TextBox 3"/>
          <p:cNvSpPr txBox="1"/>
          <p:nvPr/>
        </p:nvSpPr>
        <p:spPr>
          <a:xfrm xmlns:a="http://schemas.openxmlformats.org/drawingml/2006/main">
            <a:off x="360000" y="648000"/>
            <a:ext cx="82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E94560"/>
                </a:solidFill>
              </a:rPr>
              <a:t>شبه‌نام (Pseudonym)</a:t>
            </a:r>
          </a:p>
        </p:txBody>
      </p:sp>
      <p:sp>
        <p:nvSpPr>
          <p:cNvPr id="100055" name="TextBox 4"/>
          <p:cNvSpPr txBox="1"/>
          <p:nvPr/>
        </p:nvSpPr>
        <p:spPr>
          <a:xfrm xmlns:a="http://schemas.openxmlformats.org/drawingml/2006/main">
            <a:off x="360000" y="936000"/>
            <a:ext cx="828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شناسه موقت و غیرقابل پیوند به جای هویت واقعی</a:t>
            </a:r>
          </a:p>
        </p:txBody>
      </p:sp>
      <p:sp>
        <p:nvSpPr>
          <p:cNvPr id="100056" name="TextBox 5"/>
          <p:cNvSpPr txBox="1"/>
          <p:nvPr/>
        </p:nvSpPr>
        <p:spPr>
          <a:xfrm xmlns:a="http://schemas.openxmlformats.org/drawingml/2006/main">
            <a:off x="360000" y="1188000"/>
            <a:ext cx="828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CCCCC"/>
                </a:solidFill>
              </a:rPr>
              <a:t>چرخه حیات: صدور → استفاده → تغییر → حل (ردیابی شرطی) → لغو</a:t>
            </a:r>
          </a:p>
        </p:txBody>
      </p:sp>
      <p:sp>
        <p:nvSpPr>
          <p:cNvPr id="100057" name="TextBox 6"/>
          <p:cNvSpPr txBox="1"/>
          <p:nvPr/>
        </p:nvSpPr>
        <p:spPr>
          <a:xfrm xmlns:a="http://schemas.openxmlformats.org/drawingml/2006/main">
            <a:off x="360000" y="1512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E94560"/>
                </a:solidFill>
              </a:rPr>
              <a:t>استراتژی‌های تغییر (ETSI TR 103 415)</a:t>
            </a:r>
          </a:p>
        </p:txBody>
      </p:sp>
      <p:sp>
        <p:nvSpPr>
          <p:cNvPr id="100058" name="TextBox 7"/>
          <p:cNvSpPr txBox="1"/>
          <p:nvPr/>
        </p:nvSpPr>
        <p:spPr>
          <a:xfrm xmlns:a="http://schemas.openxmlformats.org/drawingml/2006/main">
            <a:off x="360000" y="1800000"/>
            <a:ext cx="396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تغییر با پارامتر ثابت: فواصل زمانی مشخص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تغییر تصادفی: فواصل نامنظم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دوره سکوت: توقف موقت ارسال پیام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تغییر مبتنی بر خودرو و تراکم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منطقه مخلوط‌سازی: تغییر هم‌زمان</a:t>
            </a:r>
          </a:p>
        </p:txBody>
      </p:sp>
      <p:sp>
        <p:nvSpPr>
          <p:cNvPr id="100059" name="TextBox 8"/>
          <p:cNvSpPr txBox="1"/>
          <p:nvPr/>
        </p:nvSpPr>
        <p:spPr>
          <a:xfrm xmlns:a="http://schemas.openxmlformats.org/drawingml/2006/main">
            <a:off x="4680000" y="1512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E94560"/>
                </a:solidFill>
              </a:rPr>
              <a:t>تکنیک‌های تکمیلی</a:t>
            </a:r>
          </a:p>
        </p:txBody>
      </p:sp>
      <p:sp>
        <p:nvSpPr>
          <p:cNvPr id="100060" name="TextBox 9"/>
          <p:cNvSpPr txBox="1"/>
          <p:nvPr/>
        </p:nvSpPr>
        <p:spPr>
          <a:xfrm xmlns:a="http://schemas.openxmlformats.org/drawingml/2006/main">
            <a:off x="4680000" y="1800000"/>
            <a:ext cx="39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Mix-zones: تغییر هماهنگ شبه‌نام در منطقه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k-anonymity: هر خودرو در گروه k خودرو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RAISE: تأیید اصالت توسط RSU با حفظ بی‌نامی</a:t>
            </a:r>
          </a:p>
        </p:txBody>
      </p:sp>
      <p:sp>
        <p:nvSpPr>
          <p:cNvPr id="100061" name="TextBox 10"/>
          <p:cNvSpPr txBox="1"/>
          <p:nvPr/>
        </p:nvSpPr>
        <p:spPr>
          <a:xfrm xmlns:a="http://schemas.openxmlformats.org/drawingml/2006/main">
            <a:off x="360000" y="3420000"/>
            <a:ext cx="828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888888"/>
                </a:solidFill>
              </a:rPr>
              <a:t>فقط ۱۲٪ طرح‌ها چرخه حیات کامل شبه‌نام را پیاده‌سازی کرده‌اند</a:t>
            </a:r>
          </a:p>
        </p:txBody>
      </p:sp>
      <p:sp>
        <p:nvSpPr>
          <p:cNvPr id="100062" name="TextBox 11"/>
          <p:cNvSpPr txBox="1"/>
          <p:nvPr/>
        </p:nvSpPr>
        <p:spPr>
          <a:xfrm xmlns:a="http://schemas.openxmlformats.org/drawingml/2006/main">
            <a:off x="0" y="5328000"/>
            <a:ext cx="9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213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Cryptography</a:t>
            </a:r>
          </a:p>
        </p:txBody>
      </p:sp>
      <p:sp>
        <p:nvSpPr>
          <p:cNvPr id="100063" name="TextBox 2"/>
          <p:cNvSpPr txBox="1"/>
          <p:nvPr/>
        </p:nvSpPr>
        <p:spPr>
          <a:xfrm xmlns:a="http://schemas.openxmlformats.org/drawingml/2006/main">
            <a:off x="360000" y="108000"/>
            <a:ext cx="82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رمزنگاری و امضاهای دیجیتال</a:t>
            </a:r>
          </a:p>
        </p:txBody>
      </p:sp>
      <p:sp>
        <p:nvSpPr>
          <p:cNvPr id="100064" name="TextBox 3"/>
          <p:cNvSpPr txBox="1"/>
          <p:nvPr/>
        </p:nvSpPr>
        <p:spPr>
          <a:xfrm xmlns:a="http://schemas.openxmlformats.org/drawingml/2006/main">
            <a:off x="360000" y="720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انواع امضا</a:t>
            </a:r>
          </a:p>
        </p:txBody>
      </p:sp>
      <p:sp>
        <p:nvSpPr>
          <p:cNvPr id="100065" name="TextBox 4"/>
          <p:cNvSpPr txBox="1"/>
          <p:nvPr/>
        </p:nvSpPr>
        <p:spPr>
          <a:xfrm xmlns:a="http://schemas.openxmlformats.org/drawingml/2006/main">
            <a:off x="360000" y="1008000"/>
            <a:ext cx="39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امضای مبتنی بر هویت (IBC): کلید از هویت استخراج می‌شود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امضای تجمیعی: ترکیب چند امضا در یک امضای فشرده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امضای بدون گواهی: کلید خصوصی مشترک بین کاربر و PKG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امضای مبتنی بر ECC: طول کلید کوتاه، هزینه پایین</a:t>
            </a:r>
          </a:p>
        </p:txBody>
      </p:sp>
      <p:sp>
        <p:nvSpPr>
          <p:cNvPr id="100066" name="TextBox 5"/>
          <p:cNvSpPr txBox="1"/>
          <p:nvPr/>
        </p:nvSpPr>
        <p:spPr>
          <a:xfrm xmlns:a="http://schemas.openxmlformats.org/drawingml/2006/main">
            <a:off x="360000" y="2160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زیرساخت کلید عمومی (PKI)</a:t>
            </a:r>
          </a:p>
        </p:txBody>
      </p:sp>
      <p:sp>
        <p:nvSpPr>
          <p:cNvPr id="100067" name="TextBox 6"/>
          <p:cNvSpPr txBox="1"/>
          <p:nvPr/>
        </p:nvSpPr>
        <p:spPr>
          <a:xfrm xmlns:a="http://schemas.openxmlformats.org/drawingml/2006/main">
            <a:off x="360000" y="2448000"/>
            <a:ext cx="396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• صدور، توزیع و مدیریت چرخه حیات گواهی‌ها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• مدیریت لیست ابطال گواهی (CRL)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• گواهی‌های کوتاه‌عمر برای کاهش افشای کلید</a:t>
            </a:r>
          </a:p>
        </p:txBody>
      </p:sp>
      <p:sp>
        <p:nvSpPr>
          <p:cNvPr id="100068" name="TextBox 7"/>
          <p:cNvSpPr txBox="1"/>
          <p:nvPr/>
        </p:nvSpPr>
        <p:spPr>
          <a:xfrm xmlns:a="http://schemas.openxmlformats.org/drawingml/2006/main">
            <a:off x="4680000" y="720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چالش‌ها</a:t>
            </a:r>
          </a:p>
        </p:txBody>
      </p:sp>
      <p:sp>
        <p:nvSpPr>
          <p:cNvPr id="100069" name="TextBox 8"/>
          <p:cNvSpPr txBox="1"/>
          <p:nvPr/>
        </p:nvSpPr>
        <p:spPr>
          <a:xfrm xmlns:a="http://schemas.openxmlformats.org/drawingml/2006/main">
            <a:off x="4680000" y="1008000"/>
            <a:ext cx="3960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محدودیت منابع: OBU/RSU نمی‌توانند الگوریتم سنگین اجرا کنند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تأخیر بلادرنگ: پیام ایمنی باید فوری تولید شود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مدیریت کلید و ابطال: حلقه ضعیف در شبکه متحرک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ناتوانی در برابر حملات داخلی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تهدید کوانتومی: ECC و RSA آسیب‌پذیر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توازن امنیت و کارایی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ناهمگونی پروتکل‌ها: DSRC vs LTE vs 5G</a:t>
            </a:r>
          </a:p>
        </p:txBody>
      </p:sp>
      <p:sp>
        <p:nvSpPr>
          <p:cNvPr id="100070" name="TextBox 9"/>
          <p:cNvSpPr txBox="1"/>
          <p:nvPr/>
        </p:nvSpPr>
        <p:spPr>
          <a:xfrm xmlns:a="http://schemas.openxmlformats.org/drawingml/2006/main">
            <a:off x="0" y="5328000"/>
            <a:ext cx="9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6213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Trust</a:t>
            </a:r>
          </a:p>
        </p:txBody>
      </p:sp>
      <p:sp>
        <p:nvSpPr>
          <p:cNvPr id="100071" name="TextBox 2"/>
          <p:cNvSpPr txBox="1"/>
          <p:nvPr/>
        </p:nvSpPr>
        <p:spPr>
          <a:xfrm xmlns:a="http://schemas.openxmlformats.org/drawingml/2006/main">
            <a:off x="360000" y="108000"/>
            <a:ext cx="82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مدیریت اعتماد و شهرت</a:t>
            </a:r>
          </a:p>
        </p:txBody>
      </p:sp>
      <p:sp>
        <p:nvSpPr>
          <p:cNvPr id="100072" name="TextBox 3"/>
          <p:cNvSpPr txBox="1"/>
          <p:nvPr/>
        </p:nvSpPr>
        <p:spPr>
          <a:xfrm xmlns:a="http://schemas.openxmlformats.org/drawingml/2006/main">
            <a:off x="360000" y="576000"/>
            <a:ext cx="828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CCCCC"/>
                </a:solidFill>
              </a:rPr>
              <a:t>مکمل رمزنگاری — شناسایی گره‌های موذی داخلی که گواهی معتبر دارند اما محتوای نادرست تولید می‌کنند</a:t>
            </a:r>
          </a:p>
        </p:txBody>
      </p:sp>
      <p:sp>
        <p:nvSpPr>
          <p:cNvPr id="100073" name="TextBox 4"/>
          <p:cNvSpPr txBox="1"/>
          <p:nvPr/>
        </p:nvSpPr>
        <p:spPr>
          <a:xfrm xmlns:a="http://schemas.openxmlformats.org/drawingml/2006/main">
            <a:off x="360000" y="900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E94560"/>
                </a:solidFill>
              </a:rPr>
              <a:t>مدل‌های اعتماد</a:t>
            </a:r>
          </a:p>
        </p:txBody>
      </p:sp>
      <p:sp>
        <p:nvSpPr>
          <p:cNvPr id="100074" name="TextBox 5"/>
          <p:cNvSpPr txBox="1"/>
          <p:nvPr/>
        </p:nvSpPr>
        <p:spPr>
          <a:xfrm xmlns:a="http://schemas.openxmlformats.org/drawingml/2006/main">
            <a:off x="360000" y="1188000"/>
            <a:ext cx="396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مبتنی بر توصیه: بازخورد سایر گره‌ها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مبتنی بر پیش‌بینی: الگوهای رفتاری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مبتنی بر شهرت: سابقه عملکرد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مبتنی بر سیاست: قوانین و مقررات</a:t>
            </a:r>
          </a:p>
        </p:txBody>
      </p:sp>
      <p:sp>
        <p:nvSpPr>
          <p:cNvPr id="100075" name="TextBox 6"/>
          <p:cNvSpPr txBox="1"/>
          <p:nvPr/>
        </p:nvSpPr>
        <p:spPr>
          <a:xfrm xmlns:a="http://schemas.openxmlformats.org/drawingml/2006/main">
            <a:off x="360000" y="2088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E94560"/>
                </a:solidFill>
              </a:rPr>
              <a:t>روش‌های محاسبه</a:t>
            </a:r>
          </a:p>
        </p:txBody>
      </p:sp>
      <p:sp>
        <p:nvSpPr>
          <p:cNvPr id="100076" name="TextBox 7"/>
          <p:cNvSpPr txBox="1"/>
          <p:nvPr/>
        </p:nvSpPr>
        <p:spPr>
          <a:xfrm xmlns:a="http://schemas.openxmlformats.org/drawingml/2006/main">
            <a:off x="360000" y="2376000"/>
            <a:ext cx="396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جمع وزنی امتیازات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استنباط بیزی: به‌روزرسانی با مشاهده رفتار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یادگیری تقویتی (Q-learning)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منطق فازی</a:t>
            </a:r>
          </a:p>
        </p:txBody>
      </p:sp>
      <p:sp>
        <p:nvSpPr>
          <p:cNvPr id="100077" name="TextBox 8"/>
          <p:cNvSpPr txBox="1"/>
          <p:nvPr/>
        </p:nvSpPr>
        <p:spPr>
          <a:xfrm xmlns:a="http://schemas.openxmlformats.org/drawingml/2006/main">
            <a:off x="4680000" y="900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E94560"/>
                </a:solidFill>
              </a:rPr>
              <a:t>سیستم‌های شهرت</a:t>
            </a:r>
          </a:p>
        </p:txBody>
      </p:sp>
      <p:sp>
        <p:nvSpPr>
          <p:cNvPr id="100078" name="TextBox 9"/>
          <p:cNvSpPr txBox="1"/>
          <p:nvPr/>
        </p:nvSpPr>
        <p:spPr>
          <a:xfrm xmlns:a="http://schemas.openxmlformats.org/drawingml/2006/main">
            <a:off x="4680000" y="1188000"/>
            <a:ext cx="396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ذخیره‌سازی غیرمتمرکز در زنجیره بلوکی/IOTA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سیستم DIVA: شهرت مبتنی بر DID بر IOTA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دقت ~۹۰٪ در شناسایی مشارکت‌کنندگان موذی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مکانیزم‌های انگیزشی: پاداش همکاری</a:t>
            </a:r>
          </a:p>
        </p:txBody>
      </p:sp>
      <p:sp>
        <p:nvSpPr>
          <p:cNvPr id="100079" name="TextBox 10"/>
          <p:cNvSpPr txBox="1"/>
          <p:nvPr/>
        </p:nvSpPr>
        <p:spPr>
          <a:xfrm xmlns:a="http://schemas.openxmlformats.org/drawingml/2006/main">
            <a:off x="360000" y="3420000"/>
            <a:ext cx="828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3A8B6"/>
                </a:solidFill>
              </a:rPr>
              <a:t>چالش کلیدی: تعادل بین شفافیت اعتماد و حریم خصوصی رانندگان</a:t>
            </a:r>
          </a:p>
        </p:txBody>
      </p:sp>
      <p:sp>
        <p:nvSpPr>
          <p:cNvPr id="100080" name="TextBox 11"/>
          <p:cNvSpPr txBox="1"/>
          <p:nvPr/>
        </p:nvSpPr>
        <p:spPr>
          <a:xfrm xmlns:a="http://schemas.openxmlformats.org/drawingml/2006/main">
            <a:off x="0" y="5328000"/>
            <a:ext cx="9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6213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Blockchain IOTA</a:t>
            </a:r>
          </a:p>
        </p:txBody>
      </p:sp>
      <p:sp>
        <p:nvSpPr>
          <p:cNvPr id="100081" name="TextBox 2"/>
          <p:cNvSpPr txBox="1"/>
          <p:nvPr/>
        </p:nvSpPr>
        <p:spPr>
          <a:xfrm xmlns:a="http://schemas.openxmlformats.org/drawingml/2006/main">
            <a:off x="360000" y="108000"/>
            <a:ext cx="82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زنجیره بلوکی و IOTA Tangle</a:t>
            </a:r>
          </a:p>
        </p:txBody>
      </p:sp>
      <p:sp>
        <p:nvSpPr>
          <p:cNvPr id="100082" name="TextBox 3"/>
          <p:cNvSpPr txBox="1"/>
          <p:nvPr/>
        </p:nvSpPr>
        <p:spPr>
          <a:xfrm xmlns:a="http://schemas.openxmlformats.org/drawingml/2006/main">
            <a:off x="360000" y="648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زنجیره بلوکی</a:t>
            </a:r>
          </a:p>
        </p:txBody>
      </p:sp>
      <p:sp>
        <p:nvSpPr>
          <p:cNvPr id="100083" name="TextBox 4"/>
          <p:cNvSpPr txBox="1"/>
          <p:nvPr/>
        </p:nvSpPr>
        <p:spPr>
          <a:xfrm xmlns:a="http://schemas.openxmlformats.org/drawingml/2006/main">
            <a:off x="360000" y="936000"/>
            <a:ext cx="396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غیرمتمرکز و تغییرناپذیر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مدیریت اعتماد، هویت و قرارداد هوشمند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معماری ۶ لایه: داده، شبکه، توافق، انگیزش، قرارداد، کاربرد</a:t>
            </a:r>
          </a:p>
        </p:txBody>
      </p:sp>
      <p:sp>
        <p:nvSpPr>
          <p:cNvPr id="100084" name="TextBox 5"/>
          <p:cNvSpPr txBox="1"/>
          <p:nvPr/>
        </p:nvSpPr>
        <p:spPr>
          <a:xfrm xmlns:a="http://schemas.openxmlformats.org/drawingml/2006/main">
            <a:off x="360000" y="1872000"/>
            <a:ext cx="396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888888"/>
                </a:solidFill>
              </a:rPr>
              <a:t>محدودیت‌ها: مقیاس پایین (۷-۱۵ TPS)، مصرف انرژی بالا، هزینه تراکنش، حمله ۵۱٪</a:t>
            </a:r>
          </a:p>
        </p:txBody>
      </p:sp>
      <p:sp>
        <p:nvSpPr>
          <p:cNvPr id="100085" name="TextBox 6"/>
          <p:cNvSpPr txBox="1"/>
          <p:nvPr/>
        </p:nvSpPr>
        <p:spPr>
          <a:xfrm xmlns:a="http://schemas.openxmlformats.org/drawingml/2006/main">
            <a:off x="360000" y="2088000"/>
            <a:ext cx="396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888888"/>
                </a:solidFill>
              </a:rPr>
              <a:t>راهکارها: شاردینگ، PoS، زنجیره فرعی، لایه مقیاس‌پذیری</a:t>
            </a:r>
          </a:p>
        </p:txBody>
      </p:sp>
      <p:sp>
        <p:nvSpPr>
          <p:cNvPr id="100086" name="TextBox 7"/>
          <p:cNvSpPr txBox="1"/>
          <p:nvPr/>
        </p:nvSpPr>
        <p:spPr>
          <a:xfrm xmlns:a="http://schemas.openxmlformats.org/drawingml/2006/main">
            <a:off x="4680000" y="648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IOTA Tangle (DAG)</a:t>
            </a:r>
          </a:p>
        </p:txBody>
      </p:sp>
      <p:sp>
        <p:nvSpPr>
          <p:cNvPr id="100087" name="TextBox 8"/>
          <p:cNvSpPr txBox="1"/>
          <p:nvPr/>
        </p:nvSpPr>
        <p:spPr>
          <a:xfrm xmlns:a="http://schemas.openxmlformats.org/drawingml/2006/main">
            <a:off x="4680000" y="936000"/>
            <a:ext cx="396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ساختار گراف جهت‌دار بدون دور (DAG)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بدون کارمزد و بدون ماینر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مقیاس‌پذیری بالا: هرچه تراکنش بیشتر، شبکه قوی‌تر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مصرف انرژی پایین و تأیید سریع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V2.0: حذف هماهنگ‌کننده متمرکز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+ امضای Ed25519 و قرارداد هوشمند ISCP</a:t>
            </a:r>
          </a:p>
        </p:txBody>
      </p:sp>
      <p:pic>
        <p:nvPicPr>
          <p:cNvPr id="10008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2739396a64b1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80000" y="2592000"/>
            <a:ext cx="6840000" cy="1620000"/>
          </a:xfrm>
          <a:prstGeom xmlns:a="http://schemas.openxmlformats.org/drawingml/2006/main" prst="rect">
            <a:avLst/>
          </a:prstGeom>
        </p:spPr>
      </p:pic>
      <p:sp>
        <p:nvSpPr>
          <p:cNvPr id="100089" name="TextBox 9"/>
          <p:cNvSpPr txBox="1"/>
          <p:nvPr/>
        </p:nvSpPr>
        <p:spPr>
          <a:xfrm xmlns:a="http://schemas.openxmlformats.org/drawingml/2006/main">
            <a:off x="0" y="5328000"/>
            <a:ext cx="9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6213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SSI Identity</a:t>
            </a:r>
          </a:p>
        </p:txBody>
      </p:sp>
      <p:sp>
        <p:nvSpPr>
          <p:cNvPr id="100090" name="TextBox 2"/>
          <p:cNvSpPr txBox="1"/>
          <p:nvPr/>
        </p:nvSpPr>
        <p:spPr>
          <a:xfrm xmlns:a="http://schemas.openxmlformats.org/drawingml/2006/main">
            <a:off x="360000" y="108000"/>
            <a:ext cx="82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مدیریت هویت و SSI</a:t>
            </a:r>
          </a:p>
        </p:txBody>
      </p:sp>
      <p:pic>
        <p:nvPicPr>
          <p:cNvPr id="10009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128d4917c4dd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0000" y="648000"/>
            <a:ext cx="4680000" cy="2520000"/>
          </a:xfrm>
          <a:prstGeom xmlns:a="http://schemas.openxmlformats.org/drawingml/2006/main" prst="rect">
            <a:avLst/>
          </a:prstGeom>
        </p:spPr>
      </p:pic>
      <p:sp>
        <p:nvSpPr>
          <p:cNvPr id="100092" name="TextBox 3"/>
          <p:cNvSpPr txBox="1"/>
          <p:nvPr/>
        </p:nvSpPr>
        <p:spPr>
          <a:xfrm xmlns:a="http://schemas.openxmlformats.org/drawingml/2006/main">
            <a:off x="5400000" y="648000"/>
            <a:ext cx="324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SSI / DID / VC</a:t>
            </a:r>
          </a:p>
        </p:txBody>
      </p:sp>
      <p:sp>
        <p:nvSpPr>
          <p:cNvPr id="100093" name="TextBox 4"/>
          <p:cNvSpPr txBox="1"/>
          <p:nvPr/>
        </p:nvSpPr>
        <p:spPr>
          <a:xfrm xmlns:a="http://schemas.openxmlformats.org/drawingml/2006/main">
            <a:off x="5400000" y="936000"/>
            <a:ext cx="324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SSI: کنترل کامل کاربر بر داده‌های شخصی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DID: شناسه غیرمتمرکز بدون مرجع مرکزی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VC: اعتبارنامه تأییدپذیر با افشای انتخابی (ZKP)</a:t>
            </a:r>
          </a:p>
        </p:txBody>
      </p:sp>
      <p:sp>
        <p:nvSpPr>
          <p:cNvPr id="100094" name="TextBox 5"/>
          <p:cNvSpPr txBox="1"/>
          <p:nvPr/>
        </p:nvSpPr>
        <p:spPr>
          <a:xfrm xmlns:a="http://schemas.openxmlformats.org/drawingml/2006/main">
            <a:off x="5400000" y="1872000"/>
            <a:ext cx="324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E94560"/>
                </a:solidFill>
              </a:rPr>
              <a:t>تکامل هویت</a:t>
            </a:r>
          </a:p>
        </p:txBody>
      </p:sp>
      <p:sp>
        <p:nvSpPr>
          <p:cNvPr id="100095" name="TextBox 6"/>
          <p:cNvSpPr txBox="1"/>
          <p:nvPr/>
        </p:nvSpPr>
        <p:spPr>
          <a:xfrm xmlns:a="http://schemas.openxmlformats.org/drawingml/2006/main">
            <a:off x="5400000" y="2160000"/>
            <a:ext cx="32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۱۹۸۸-۱۹۹۸: متمرکز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۱۹۹۸-۲۰۰۵: فدرالی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۲۰۰۵-۲۰۱۲: کاربرمحور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۲۰۱۲-اکنون: خودمختار (SSI)</a:t>
            </a:r>
          </a:p>
        </p:txBody>
      </p:sp>
      <p:sp>
        <p:nvSpPr>
          <p:cNvPr id="100096" name="TextBox 7"/>
          <p:cNvSpPr txBox="1"/>
          <p:nvPr/>
        </p:nvSpPr>
        <p:spPr>
          <a:xfrm xmlns:a="http://schemas.openxmlformats.org/drawingml/2006/main">
            <a:off x="360000" y="3312000"/>
            <a:ext cx="828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3A8B6"/>
                </a:solidFill>
              </a:rPr>
              <a:t>مزایا: حذف نقطه شکست منفرد • حفظ حریم خصوصی • ردیابی شرطی • مقابله با سیبل</a:t>
            </a:r>
          </a:p>
        </p:txBody>
      </p:sp>
      <p:sp>
        <p:nvSpPr>
          <p:cNvPr id="100097" name="TextBox 8"/>
          <p:cNvSpPr txBox="1"/>
          <p:nvPr/>
        </p:nvSpPr>
        <p:spPr>
          <a:xfrm xmlns:a="http://schemas.openxmlformats.org/drawingml/2006/main">
            <a:off x="360000" y="3564000"/>
            <a:ext cx="828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3A8B6"/>
                </a:solidFill>
              </a:rPr>
              <a:t>طرح‌ها: PCS (نقاط اجتماعی) • SRPS (تعادل حریم/ایمنی) • DIVA (DID+IOTA, دقت ۹۰٪) • BPAS (Hyperledger)</a:t>
            </a:r>
          </a:p>
        </p:txBody>
      </p:sp>
      <p:sp>
        <p:nvSpPr>
          <p:cNvPr id="100098" name="TextBox 9"/>
          <p:cNvSpPr txBox="1"/>
          <p:nvPr/>
        </p:nvSpPr>
        <p:spPr>
          <a:xfrm xmlns:a="http://schemas.openxmlformats.org/drawingml/2006/main">
            <a:off x="0" y="5328000"/>
            <a:ext cx="9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6213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AI Tech</a:t>
            </a:r>
          </a:p>
        </p:txBody>
      </p:sp>
      <p:sp>
        <p:nvSpPr>
          <p:cNvPr id="100099" name="TextBox 2"/>
          <p:cNvSpPr txBox="1"/>
          <p:nvPr/>
        </p:nvSpPr>
        <p:spPr>
          <a:xfrm xmlns:a="http://schemas.openxmlformats.org/drawingml/2006/main">
            <a:off x="360000" y="108000"/>
            <a:ext cx="82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هوش مصنوعی و فناوری‌های نوظهور</a:t>
            </a:r>
          </a:p>
        </p:txBody>
      </p:sp>
      <p:sp>
        <p:nvSpPr>
          <p:cNvPr id="100100" name="TextBox 3"/>
          <p:cNvSpPr txBox="1"/>
          <p:nvPr/>
        </p:nvSpPr>
        <p:spPr>
          <a:xfrm xmlns:a="http://schemas.openxmlformats.org/drawingml/2006/main">
            <a:off x="360000" y="720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هوش مصنوعی و یادگیری ماشین</a:t>
            </a:r>
          </a:p>
        </p:txBody>
      </p:sp>
      <p:sp>
        <p:nvSpPr>
          <p:cNvPr id="100101" name="TextBox 4"/>
          <p:cNvSpPr txBox="1"/>
          <p:nvPr/>
        </p:nvSpPr>
        <p:spPr>
          <a:xfrm xmlns:a="http://schemas.openxmlformats.org/drawingml/2006/main">
            <a:off x="360000" y="1008000"/>
            <a:ext cx="396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تشخیص ناهنجاری: شبکه‌های CNN و LSTM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تحلیل آسیب‌پذیری زنده ترافیک شبکه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یادگیری فدرال: امن + حفظ حریم خصوصی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یادگیری تقویتی: ارزیابی اعتماد خودروها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منطق فازی: محاسبه اعتماد پیام‌ها</a:t>
            </a:r>
          </a:p>
        </p:txBody>
      </p:sp>
      <p:sp>
        <p:nvSpPr>
          <p:cNvPr id="100102" name="TextBox 5"/>
          <p:cNvSpPr txBox="1"/>
          <p:nvPr/>
        </p:nvSpPr>
        <p:spPr>
          <a:xfrm xmlns:a="http://schemas.openxmlformats.org/drawingml/2006/main">
            <a:off x="360000" y="2340000"/>
            <a:ext cx="396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888888"/>
                </a:solidFill>
              </a:rPr>
              <a:t>چالش: مسموم‌سازی داده آموزشی و حملات تخاصمی</a:t>
            </a:r>
          </a:p>
        </p:txBody>
      </p:sp>
      <p:sp>
        <p:nvSpPr>
          <p:cNvPr id="100103" name="TextBox 6"/>
          <p:cNvSpPr txBox="1"/>
          <p:nvPr/>
        </p:nvSpPr>
        <p:spPr>
          <a:xfrm xmlns:a="http://schemas.openxmlformats.org/drawingml/2006/main">
            <a:off x="4680000" y="720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فناوری‌های نوظهور</a:t>
            </a:r>
          </a:p>
        </p:txBody>
      </p:sp>
      <p:sp>
        <p:nvSpPr>
          <p:cNvPr id="100104" name="TextBox 7"/>
          <p:cNvSpPr txBox="1"/>
          <p:nvPr/>
        </p:nvSpPr>
        <p:spPr>
          <a:xfrm xmlns:a="http://schemas.openxmlformats.org/drawingml/2006/main">
            <a:off x="4680000" y="1008000"/>
            <a:ext cx="396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رایانش ابری/لبه/مه: کاهش بار محاسباتی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+ 5G/6G: معماری SBA با AUSF/SEAF/ARPF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برش شبکه: ایزولاسون امنیتی بین سرویس‌ها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SDVN: جداسازی صفحه کنترل از صفحه داده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معماری‌های ترکیبی: DLT + ابر + لبه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دوقلوهای دیجیتال: شبیه‌سازی بدون اختلال</a:t>
            </a:r>
          </a:p>
        </p:txBody>
      </p:sp>
      <p:sp>
        <p:nvSpPr>
          <p:cNvPr id="100105" name="TextBox 8"/>
          <p:cNvSpPr txBox="1"/>
          <p:nvPr/>
        </p:nvSpPr>
        <p:spPr>
          <a:xfrm xmlns:a="http://schemas.openxmlformats.org/drawingml/2006/main">
            <a:off x="0" y="5328000"/>
            <a:ext cx="9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6213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Open Issues</a:t>
            </a:r>
          </a:p>
        </p:txBody>
      </p:sp>
      <p:sp>
        <p:nvSpPr>
          <p:cNvPr id="100106" name="TextBox 2"/>
          <p:cNvSpPr txBox="1"/>
          <p:nvPr/>
        </p:nvSpPr>
        <p:spPr>
          <a:xfrm xmlns:a="http://schemas.openxmlformats.org/drawingml/2006/main">
            <a:off x="360000" y="108000"/>
            <a:ext cx="82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مسائل باز و کارهای آینده</a:t>
            </a:r>
          </a:p>
        </p:txBody>
      </p:sp>
      <p:sp>
        <p:nvSpPr>
          <p:cNvPr id="100107" name="TextBox 3"/>
          <p:cNvSpPr txBox="1"/>
          <p:nvPr/>
        </p:nvSpPr>
        <p:spPr>
          <a:xfrm xmlns:a="http://schemas.openxmlformats.org/drawingml/2006/main">
            <a:off x="360000" y="720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مسائل امنیتی</a:t>
            </a:r>
          </a:p>
        </p:txBody>
      </p:sp>
      <p:sp>
        <p:nvSpPr>
          <p:cNvPr id="100108" name="TextBox 4"/>
          <p:cNvSpPr txBox="1"/>
          <p:nvPr/>
        </p:nvSpPr>
        <p:spPr>
          <a:xfrm xmlns:a="http://schemas.openxmlformats.org/drawingml/2006/main">
            <a:off x="360000" y="1008000"/>
            <a:ext cx="396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معاوضه حریم خصوصی، امنیت و کارایی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چرخه حیات کامل شبه‌نام بدون افت عملکرد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کاهش وابستگی به RSU (نقطه شکست منفرد)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مقیاس‌پذیری در تراکم بالای شهری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امضاهای دیجیتال سبک و سریع بلادرنگ</a:t>
            </a:r>
          </a:p>
        </p:txBody>
      </p:sp>
      <p:sp>
        <p:nvSpPr>
          <p:cNvPr id="100109" name="TextBox 5"/>
          <p:cNvSpPr txBox="1"/>
          <p:nvPr/>
        </p:nvSpPr>
        <p:spPr>
          <a:xfrm xmlns:a="http://schemas.openxmlformats.org/drawingml/2006/main">
            <a:off x="360000" y="2520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مسائل فنی</a:t>
            </a:r>
          </a:p>
        </p:txBody>
      </p:sp>
      <p:sp>
        <p:nvSpPr>
          <p:cNvPr id="100110" name="TextBox 6"/>
          <p:cNvSpPr txBox="1"/>
          <p:nvPr/>
        </p:nvSpPr>
        <p:spPr>
          <a:xfrm xmlns:a="http://schemas.openxmlformats.org/drawingml/2006/main">
            <a:off x="360000" y="2808000"/>
            <a:ext cx="396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رمزنگاری پساکوانتومی (PQC) و مشبکه‌ها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مقاومت ML در برابر حملات تخاصمی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تحلیل رسمی با ProVerif و Tamarin</a:t>
            </a:r>
          </a:p>
        </p:txBody>
      </p:sp>
      <p:sp>
        <p:nvSpPr>
          <p:cNvPr id="100111" name="TextBox 7"/>
          <p:cNvSpPr txBox="1"/>
          <p:nvPr/>
        </p:nvSpPr>
        <p:spPr>
          <a:xfrm xmlns:a="http://schemas.openxmlformats.org/drawingml/2006/main">
            <a:off x="4680000" y="720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مسائل ساختاری</a:t>
            </a:r>
          </a:p>
        </p:txBody>
      </p:sp>
      <p:sp>
        <p:nvSpPr>
          <p:cNvPr id="100112" name="TextBox 8"/>
          <p:cNvSpPr txBox="1"/>
          <p:nvPr/>
        </p:nvSpPr>
        <p:spPr>
          <a:xfrm xmlns:a="http://schemas.openxmlformats.org/drawingml/2006/main">
            <a:off x="4680000" y="1008000"/>
            <a:ext cx="396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مجموعه‌داده‌های باز و واقعی از ترافیک VANET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چارچوب‌های مقرراتی یکپارچه بین‌المللی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هماهنگی مقررات حریم خصوصی بین کشورها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امنیت ارتباطات چندپرشی در لایه‌های ITS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آمادگی برای گذار تدریجی به رمزنگاری پساکوانتومی</a:t>
            </a:r>
          </a:p>
        </p:txBody>
      </p:sp>
      <p:sp>
        <p:nvSpPr>
          <p:cNvPr id="100113" name="TextBox 9"/>
          <p:cNvSpPr txBox="1"/>
          <p:nvPr/>
        </p:nvSpPr>
        <p:spPr>
          <a:xfrm xmlns:a="http://schemas.openxmlformats.org/drawingml/2006/main">
            <a:off x="4680000" y="2700000"/>
            <a:ext cx="396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3A8B6"/>
                </a:solidFill>
              </a:rPr>
              <a:t>نیاز: همکاری بین‌رشته‌ای رمزنگاری، شبکه، AI، حقوق و سیاست‌گذاری</a:t>
            </a:r>
          </a:p>
        </p:txBody>
      </p:sp>
      <p:sp>
        <p:nvSpPr>
          <p:cNvPr id="100114" name="TextBox 10"/>
          <p:cNvSpPr txBox="1"/>
          <p:nvPr/>
        </p:nvSpPr>
        <p:spPr>
          <a:xfrm xmlns:a="http://schemas.openxmlformats.org/drawingml/2006/main">
            <a:off x="0" y="5328000"/>
            <a:ext cx="9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6213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Conclusion</a:t>
            </a:r>
          </a:p>
        </p:txBody>
      </p:sp>
      <p:sp>
        <p:nvSpPr>
          <p:cNvPr id="100115" name="TextBox 2"/>
          <p:cNvSpPr txBox="1"/>
          <p:nvPr/>
        </p:nvSpPr>
        <p:spPr>
          <a:xfrm xmlns:a="http://schemas.openxmlformats.org/drawingml/2006/main">
            <a:off x="360000" y="108000"/>
            <a:ext cx="82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جمع‌بندی</a:t>
            </a:r>
          </a:p>
        </p:txBody>
      </p:sp>
      <p:sp>
        <p:nvSpPr>
          <p:cNvPr id="100116" name="TextBox 3"/>
          <p:cNvSpPr txBox="1"/>
          <p:nvPr/>
        </p:nvSpPr>
        <p:spPr>
          <a:xfrm xmlns:a="http://schemas.openxmlformats.org/drawingml/2006/main">
            <a:off x="360000" y="648000"/>
            <a:ext cx="82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CCCCC"/>
                </a:solidFill>
              </a:rPr>
              <a:t>امنیت VANET یک مسئله چندبعدی است: ابعاد فنی، حقوقی، اجتماعی و اقتصادی</a:t>
            </a:r>
          </a:p>
        </p:txBody>
      </p:sp>
      <p:sp>
        <p:nvSpPr>
          <p:cNvPr id="100117" name="TextBox 4"/>
          <p:cNvSpPr txBox="1"/>
          <p:nvPr/>
        </p:nvSpPr>
        <p:spPr>
          <a:xfrm xmlns:a="http://schemas.openxmlformats.org/drawingml/2006/main">
            <a:off x="360000" y="1080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راهکارهای کلیدی</a:t>
            </a:r>
          </a:p>
        </p:txBody>
      </p:sp>
      <p:sp>
        <p:nvSpPr>
          <p:cNvPr id="100118" name="TextBox 5"/>
          <p:cNvSpPr txBox="1"/>
          <p:nvPr/>
        </p:nvSpPr>
        <p:spPr>
          <a:xfrm xmlns:a="http://schemas.openxmlformats.org/drawingml/2006/main">
            <a:off x="360000" y="1368000"/>
            <a:ext cx="396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رمزنگاری سبک: ECC، IBC، تأیید دسته‌ای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شبه‌نام + مناطق مخلوط‌سازی برای حریم خصوصی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مدیریت اعتماد توزیع‌شده مکمل PKI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IOTA Tangle جایگزین زنجیره بلوک سنتی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SSI/DID/VC برای هویت غیرمتمرکز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تشخیص ناهنجاری مبتنی بر AI</a:t>
            </a:r>
          </a:p>
        </p:txBody>
      </p:sp>
      <p:sp>
        <p:nvSpPr>
          <p:cNvPr id="100119" name="TextBox 6"/>
          <p:cNvSpPr txBox="1"/>
          <p:nvPr/>
        </p:nvSpPr>
        <p:spPr>
          <a:xfrm xmlns:a="http://schemas.openxmlformats.org/drawingml/2006/main">
            <a:off x="4680000" y="1080000"/>
            <a:ext cx="39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94560"/>
                </a:solidFill>
              </a:rPr>
              <a:t>چشم‌انداز آینده</a:t>
            </a:r>
          </a:p>
        </p:txBody>
      </p:sp>
      <p:sp>
        <p:nvSpPr>
          <p:cNvPr id="100120" name="TextBox 7"/>
          <p:cNvSpPr txBox="1"/>
          <p:nvPr/>
        </p:nvSpPr>
        <p:spPr>
          <a:xfrm xmlns:a="http://schemas.openxmlformats.org/drawingml/2006/main">
            <a:off x="4680000" y="1368000"/>
            <a:ext cx="396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یکپارچگی AI + DLT + 5G/6G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رمزنگاری پساکوانتومی پیش از تهدید عملی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معماری‌های ترکیبی: ابر + لبه + زنجیره بلوک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مجموعه‌داده‌های استاندارد و واقعی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تحلیل رسمی اثبات امنیت پروتکل‌ها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+ همکاری بین‌رشته‌ای متخصصان</a:t>
            </a:r>
          </a:p>
        </p:txBody>
      </p:sp>
      <p:sp>
        <p:nvSpPr>
          <p:cNvPr id="100121" name="TextBox 8"/>
          <p:cNvSpPr txBox="1"/>
          <p:nvPr/>
        </p:nvSpPr>
        <p:spPr>
          <a:xfrm xmlns:a="http://schemas.openxmlformats.org/drawingml/2006/main">
            <a:off x="0" y="5328000"/>
            <a:ext cx="9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3460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Thank You</a:t>
            </a:r>
          </a:p>
        </p:txBody>
      </p:sp>
      <p:sp>
        <p:nvSpPr>
          <p:cNvPr id="100122" name="TextBox 2"/>
          <p:cNvSpPr txBox="1"/>
          <p:nvPr/>
        </p:nvSpPr>
        <p:spPr>
          <a:xfrm xmlns:a="http://schemas.openxmlformats.org/drawingml/2006/main">
            <a:off x="360000" y="1440000"/>
            <a:ext cx="82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با تشکر از توجه شما</a:t>
            </a:r>
          </a:p>
        </p:txBody>
      </p:sp>
      <p:sp>
        <p:nvSpPr>
          <p:cNvPr id="100123" name="TextBox 3"/>
          <p:cNvSpPr txBox="1"/>
          <p:nvPr/>
        </p:nvSpPr>
        <p:spPr>
          <a:xfrm xmlns:a="http://schemas.openxmlformats.org/drawingml/2006/main">
            <a:off x="360000" y="2340000"/>
            <a:ext cx="82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E94560"/>
                </a:solidFill>
              </a:rPr>
              <a:t>پرسش و پاسخ</a:t>
            </a:r>
          </a:p>
        </p:txBody>
      </p:sp>
      <p:sp>
        <p:nvSpPr>
          <p:cNvPr id="100124" name="TextBox 4"/>
          <p:cNvSpPr txBox="1"/>
          <p:nvPr/>
        </p:nvSpPr>
        <p:spPr>
          <a:xfrm xmlns:a="http://schemas.openxmlformats.org/drawingml/2006/main">
            <a:off x="360000" y="3060000"/>
            <a:ext cx="82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سید علی موسوی • ۴۰۴۱۳۱۰۱۰</a:t>
            </a:r>
          </a:p>
        </p:txBody>
      </p:sp>
      <p:sp>
        <p:nvSpPr>
          <p:cNvPr id="100125" name="TextBox 5"/>
          <p:cNvSpPr txBox="1"/>
          <p:nvPr/>
        </p:nvSpPr>
        <p:spPr>
          <a:xfrm xmlns:a="http://schemas.openxmlformats.org/drawingml/2006/main">
            <a:off x="360000" y="3348000"/>
            <a:ext cx="82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استاد درس سمینار: دکتر رضا صفابخش</a:t>
            </a:r>
          </a:p>
        </p:txBody>
      </p:sp>
      <p:sp>
        <p:nvSpPr>
          <p:cNvPr id="100126" name="TextBox 6"/>
          <p:cNvSpPr txBox="1"/>
          <p:nvPr/>
        </p:nvSpPr>
        <p:spPr>
          <a:xfrm xmlns:a="http://schemas.openxmlformats.org/drawingml/2006/main">
            <a:off x="360000" y="3600000"/>
            <a:ext cx="82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استاد راهنما: دکتر بابک صادقیان</a:t>
            </a:r>
          </a:p>
        </p:txBody>
      </p:sp>
      <p:sp>
        <p:nvSpPr>
          <p:cNvPr id="100127" name="TextBox 7"/>
          <p:cNvSpPr txBox="1"/>
          <p:nvPr/>
        </p:nvSpPr>
        <p:spPr>
          <a:xfrm xmlns:a="http://schemas.openxmlformats.org/drawingml/2006/main">
            <a:off x="360000" y="3888000"/>
            <a:ext cx="82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CCCCC"/>
                </a:solidFill>
              </a:rPr>
              <a:t>دانشگاه صنعتی امیرکبیر • مردادماه ۱۴۰۵</a:t>
            </a:r>
          </a:p>
        </p:txBody>
      </p:sp>
      <p:sp>
        <p:nvSpPr>
          <p:cNvPr id="100128" name="TextBox 8"/>
          <p:cNvSpPr txBox="1"/>
          <p:nvPr/>
        </p:nvSpPr>
        <p:spPr>
          <a:xfrm xmlns:a="http://schemas.openxmlformats.org/drawingml/2006/main">
            <a:off x="0" y="5328000"/>
            <a:ext cx="9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5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</a:majorFont>
      <a:minorFont>
        <a:latin typeface="Vazirmatn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2026-08-22T07:10:10.0000000Z</dcterms:created>
  <lastModifiedBy>OfficeCLI</lastModifiedBy>
  <dcterms:modified xsi:type="dcterms:W3CDTF">2026-08-22T07:10:19.4830718Z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2026-08-22T07:17:00Z</vt:lpwstr>
  </op:property>
</op:Properties>
</file>